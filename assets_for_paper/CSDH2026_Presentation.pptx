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88952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36592"/>
            <a:ext cx="12188952" cy="2121408"/>
          </a:xfrm>
          <a:prstGeom prst="rect">
            <a:avLst/>
          </a:prstGeom>
          <a:solidFill>
            <a:srgbClr val="12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28600"/>
            <a:ext cx="11365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A8CC"/>
                </a:solidFill>
                <a:latin typeface="Calibri"/>
              </a:rPr>
              <a:t>CSDH / SCHN 2026  ·  Untranslatable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113659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Abstract Rhetorics of Algorithmic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0"/>
            <a:ext cx="11365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B0C4DE"/>
                </a:solidFill>
                <a:latin typeface="Calibri"/>
              </a:rPr>
              <a:t>A Bilingual Corpus Study of Canadian Algorithmic Impact Assessments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01752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A8CC"/>
                </a:solidFill>
                <a:latin typeface="Calibri"/>
              </a:rPr>
              <a:t>47 AIAs  ·  114 source files  ·  1,178 structured records  ·  37 ethical terms  ·  1,130 corpus occurrences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[Author Name]  |  [Institution]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3218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A8CC"/>
                </a:solidFill>
                <a:latin typeface="Calibri"/>
              </a:rPr>
              <a:t>20-minute paper  ·  CSDH/SCHN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311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A3AB"/>
                </a:solidFill>
                <a:latin typeface="Calibri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Calibri"/>
              </a:rPr>
              <a:t>What bilingualism means for algorithmic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A3AB"/>
                </a:solidFill>
                <a:latin typeface="Calibri"/>
              </a:rPr>
              <a:t>2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1A3A5C"/>
                </a:solidFill>
                <a:latin typeface="Calibri"/>
              </a:rPr>
              <a:t>“Can Francophone Canadians read, in their language, the government’s own account of how an algorithm might affect their welfare benefit, their immigration application, their disability claim?”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520440"/>
            <a:ext cx="1136599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1C1C2E"/>
                </a:solidFill>
                <a:latin typeface="Calibri"/>
              </a:rPr>
              <a:t>▸ Directive on Automated Decision-Making (TBS, 2019) — AIAs mandatory in both official languages</a:t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1C1C2E"/>
                </a:solidFill>
                <a:latin typeface="Calibri"/>
              </a:rPr>
              <a:t>▸ Official Languages Act (1985) — constitutional entitlement, not a courtesy</a:t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1C1C2E"/>
                </a:solidFill>
                <a:latin typeface="Calibri"/>
              </a:rPr>
              <a:t>▸ 35% of Canadians are primarily Francophone; many exercise rights in French in immigration, welfare, disability</a:t>
            </a:r>
          </a:p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8B1A1A"/>
                </a:solidFill>
                <a:latin typeface="Calibri"/>
              </a:rPr>
              <a:t>▸ This paper asks: does the bilingual guarantee hold when algorithms govern?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is an Algorithmic Impact Assessment?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A3AB"/>
                </a:solidFill>
                <a:latin typeface="Calibri"/>
              </a:rPr>
              <a:t>3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1136599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1C1C2E"/>
                </a:solidFill>
                <a:latin typeface="Calibri"/>
              </a:rPr>
              <a:t>▸ Structured self-assessment required before deploying AI in public decision-making</a:t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1C1C2E"/>
                </a:solidFill>
                <a:latin typeface="Calibri"/>
              </a:rPr>
              <a:t>▸ Covers: system purpose · data inputs · individual rights impacts · safeguards · justification for automation</a:t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1C1C2E"/>
                </a:solidFill>
                <a:latin typeface="Calibri"/>
              </a:rPr>
              <a:t>▸ Numerical scores → Impact Level I–IV (higher = more scrutiny, external review, public disclosure)</a:t>
            </a:r>
          </a:p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1C1C2E"/>
                </a:solidFill>
                <a:latin typeface="Calibri"/>
              </a:rPr>
              <a:t>▸ Narrative free-text fields provide the substance of accountability that scores alone cannot convey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840480"/>
            <a:ext cx="2560320" cy="12801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9319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617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Calibri"/>
              </a:rPr>
              <a:t>AIAs harvested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3840480"/>
            <a:ext cx="2560320" cy="128016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39319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4617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Calibri"/>
              </a:rPr>
              <a:t>Structured submissions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3840480"/>
            <a:ext cx="2560320" cy="128016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39319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4617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Calibri"/>
              </a:rPr>
              <a:t>Bilingual PDF pairs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1080" y="3840480"/>
            <a:ext cx="2560320" cy="1280160"/>
          </a:xfrm>
          <a:prstGeom prst="rect">
            <a:avLst/>
          </a:prstGeom>
          <a:solidFill>
            <a:srgbClr val="3A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393192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4617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Calibri"/>
              </a:rPr>
              <a:t>Source 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Corpus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Calibri"/>
              </a:rPr>
              <a:t>Three analytical layers · Two LLMs · One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A3AB"/>
                </a:solidFill>
                <a:latin typeface="Calibri"/>
              </a:rPr>
              <a:t>4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Calibri"/>
              </a:rPr>
              <a:t>Three Corpus Layers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C1C2E"/>
                </a:solidFill>
                <a:latin typeface="Calibri"/>
              </a:rPr>
              <a:t>▸ Layer 1 — Full 47 AIAs: discoverability &amp; availability audit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C1C2E"/>
                </a:solidFill>
                <a:latin typeface="Calibri"/>
              </a:rPr>
              <a:t>▸ Layer 2 — 30 structured submissions: PostgreSQL database (27 tables, 1,178 rows), LLM semantic interpretation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C1C2E"/>
                </a:solidFill>
                <a:latin typeface="Calibri"/>
              </a:rPr>
              <a:t>▸ Layer 3 — 16 bilingual PDF pairs: governance terminology extraction (21 terms, 751 occurrences)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Calibri"/>
              </a:rPr>
              <a:t>Two-Model LLM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C1C2E"/>
                </a:solidFill>
                <a:latin typeface="Calibri"/>
              </a:rPr>
              <a:t>▸ Llama 3.3 70B (IONOS cloud) — Layer 2: bilingual divergence, automation justification, risk/rights, safeguard compliance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C1C2E"/>
                </a:solidFill>
                <a:latin typeface="Calibri"/>
              </a:rPr>
              <a:t>▸ GPT-4 Turbo — Layer 3: governance terminology extraction + semantic grouping across 32 documents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C1C2E"/>
                </a:solidFill>
                <a:latin typeface="Calibri"/>
              </a:rPr>
              <a:t>▸ Validation: LLM risk labels vs. computed scores (near-perfect ordinal consistency)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C1C2E"/>
                </a:solidFill>
                <a:latin typeface="Calibri"/>
              </a:rPr>
              <a:t>▸ Inter-rater: κ = 0.698 (substantial agreement, Landis &amp; Koch 1977)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36576" cy="5120640"/>
          </a:xfrm>
          <a:prstGeom prst="rect">
            <a:avLst/>
          </a:prstGeom>
          <a:solidFill>
            <a:srgbClr val="9EA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Three Failure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Calibri"/>
              </a:rPr>
              <a:t>The answer to our question — in three 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A3AB"/>
                </a:solidFill>
                <a:latin typeface="Calibri"/>
              </a:rPr>
              <a:t>5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3749039" cy="4663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0876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317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Discoverability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880360"/>
            <a:ext cx="3383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3474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BF8F2"/>
                </a:solidFill>
                <a:latin typeface="Calibri"/>
              </a:rPr>
              <a:t>French versions exist but are structured for inaccessibility — only 4% detectable by metadata search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19" y="1417320"/>
            <a:ext cx="3749039" cy="466344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150876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23317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Availability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1999" y="2880360"/>
            <a:ext cx="3383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79" y="2971800"/>
            <a:ext cx="3474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BF8F2"/>
                </a:solidFill>
                <a:latin typeface="Calibri"/>
              </a:rPr>
              <a:t>23% of systems are genuinely monolingual — no French documentation exists in any form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58" y="1417320"/>
            <a:ext cx="3749039" cy="466344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8" y="150876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8" y="23317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Semantic Drift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38" y="2880360"/>
            <a:ext cx="3383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18" y="2971800"/>
            <a:ext cx="3474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BF8F2"/>
                </a:solidFill>
                <a:latin typeface="Calibri"/>
              </a:rPr>
              <a:t>96.7% of bilingual pairs diverge — primarily through omission, then conceptual fracture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① Discoverability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Calibri"/>
              </a:rPr>
              <a:t>The invisible French archive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A3AB"/>
                </a:solidFill>
                <a:latin typeface="Calibri"/>
              </a:rPr>
              <a:t>6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8B1A1A"/>
                </a:solidFill>
                <a:latin typeface="Calibri"/>
              </a:rPr>
              <a:t>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C1C2E"/>
                </a:solidFill>
                <a:latin typeface="Calibri"/>
              </a:rPr>
              <a:t>initially detectable
as having FR counterparts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011680"/>
            <a:ext cx="548640" cy="54864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46304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A6B8A"/>
                </a:solidFill>
                <a:latin typeface="Calibri"/>
              </a:rPr>
              <a:t>38%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7432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C1C2E"/>
                </a:solidFill>
                <a:latin typeface="Calibri"/>
              </a:rPr>
              <a:t>after metadata
correction (9.5× increase)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4630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C1C2E"/>
                </a:solidFill>
                <a:latin typeface="Calibri"/>
              </a:rPr>
              <a:t>▸ EN titles: [System Name] — [Department]  (standard form)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C1C2E"/>
                </a:solidFill>
                <a:latin typeface="Calibri"/>
              </a:rPr>
              <a:t>▸ FR titles: abbreviated, grammatically inverted, or absent from dataset identifier</a:t>
            </a: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8B1A1A"/>
                </a:solidFill>
                <a:latin typeface="Calibri"/>
              </a:rPr>
              <a:t>▸ A Francophone searching open.canada.ca in standard terms would find fewer than 1 in 20</a:t>
            </a:r>
          </a:p>
          <a:p>
            <a:pPr algn="l"/>
            <a:r>
              <a:rPr sz="800" b="0" i="0">
                <a:solidFill>
                  <a:srgbClr val="1C1C2E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C1C2E"/>
                </a:solidFill>
                <a:latin typeface="Calibri"/>
              </a:rPr>
              <a:t>▸ Discoverability failure is the first mechanism through which the law's requirements are structurally circumvented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② Availability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Calibri"/>
              </a:rPr>
              <a:t>Structural monolingualism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A3AB"/>
                </a:solidFill>
                <a:latin typeface="Calibri"/>
              </a:rPr>
              <a:t>7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200400" cy="16459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23%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  <a:latin typeface="Calibri"/>
              </a:rPr>
              <a:t>systems with NO French 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50876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1C1C2E"/>
                </a:solidFill>
                <a:latin typeface="Calibri"/>
              </a:rPr>
              <a:t>▸ Not inadequately translated — French documentation was never produced</a:t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1C1C2E"/>
                </a:solidFill>
                <a:latin typeface="Calibri"/>
              </a:rPr>
              <a:t>▸ Highest rates: CBSA and IRCC — agencies whose systems most directly affect Francophone applicants</a:t>
            </a:r>
          </a:p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8B1A1A"/>
                </a:solidFill>
                <a:latin typeface="Calibri"/>
              </a:rPr>
              <a:t>▸ Structural monolingualism is highest where bilingual accountability is most needed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657600"/>
            <a:ext cx="11365992" cy="2651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1090879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Calibri"/>
              </a:rPr>
              <a:t>The riskiest systems have the thinnest governance documentation in every dimension simultaneously: maximum risk scores  ·  NULL automation type disclosure  ·  no trade-off analysis  ·  no French content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③ Semantic Drift — The Architecture of Omission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A3AB"/>
                </a:solidFill>
                <a:latin typeface="Calibri"/>
              </a:rPr>
              <a:t>8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743200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8132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96.7%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BF8F2"/>
                </a:solidFill>
                <a:latin typeface="Calibri"/>
              </a:rPr>
              <a:t>of bilingual pairs diverge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463040"/>
            <a:ext cx="2743200" cy="137160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48132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2.61 /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BF8F2"/>
                </a:solidFill>
                <a:latin typeface="Calibri"/>
              </a:rPr>
              <a:t>average fidelity 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2743200" cy="13716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48132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BF8F2"/>
                </a:solidFill>
                <a:latin typeface="Calibri"/>
              </a:rPr>
              <a:t>of divergence = omission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463040"/>
            <a:ext cx="2743200" cy="1371600"/>
          </a:xfrm>
          <a:prstGeom prst="rect">
            <a:avLst/>
          </a:prstGeom>
          <a:solidFill>
            <a:srgbClr val="4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48132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286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BF8F2"/>
                </a:solidFill>
                <a:latin typeface="Calibri"/>
              </a:rPr>
              <a:t>score 0 or 1 (effectively monolingual)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017520"/>
            <a:ext cx="1136599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500" b="1" i="0">
                <a:solidFill>
                  <a:srgbClr val="1C1C2E"/>
                </a:solidFill>
                <a:latin typeface="Calibri"/>
              </a:rPr>
              <a:t>▸ The fidelity distribution is binary, not gradual — an institutional cliff: departments either treat French as essential or they do not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1C1C2E"/>
                </a:solidFill>
                <a:latin typeface="Calibri"/>
              </a:rPr>
              <a:t>▸ Only one submission (family reunification, submission 112) achieves full bilingual equivalence — score 5/5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1C1C2E"/>
                </a:solidFill>
                <a:latin typeface="Calibri"/>
              </a:rPr>
              <a:t>▸ Reframing: 9%  ·  Translation differences: 9%  ·  Additions in French: 8%  ·  Terminological: 3%</a:t>
            </a:r>
          </a:p>
          <a:p>
            <a:pPr algn="l">
              <a:spcBef>
                <a:spcPts val="400"/>
              </a:spcBef>
            </a:pPr>
            <a:r>
              <a:rPr sz="1500" b="0" i="1">
                <a:solidFill>
                  <a:srgbClr val="8B1A1A"/>
                </a:solidFill>
                <a:latin typeface="Calibri"/>
              </a:rPr>
              <a:t>▸ The French version of Canadian algorithmic governance is not poorly translated — it is largely absent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Gets Omitted — Top Divergent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A3AB"/>
                </a:solidFill>
                <a:latin typeface="Calibri"/>
              </a:rPr>
              <a:t>9 / 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463040"/>
          <a:ext cx="113385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1463040"/>
                <a:gridCol w="5486400"/>
              </a:tblGrid>
              <a:tr h="54864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Omissions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Governance Function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C2E"/>
                          </a:solidFill>
                          <a:latin typeface="Calibri"/>
                        </a:rPr>
                        <a:t>Evaluation criteria — how the system judges people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B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C2E"/>
                          </a:solidFill>
                          <a:latin typeface="Calibri"/>
                        </a:rPr>
                        <a:t>Most accountability-critical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C2E"/>
                          </a:solidFill>
                          <a:latin typeface="Calibri"/>
                        </a:rPr>
                        <a:t>System output description — what the system produces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B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C2E"/>
                          </a:solidFill>
                          <a:latin typeface="Calibri"/>
                        </a:rPr>
                        <a:t>Foundation of public understanding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C2E"/>
                          </a:solidFill>
                          <a:latin typeface="Calibri"/>
                        </a:rPr>
                        <a:t>Project title — what the system is called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B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C2E"/>
                          </a:solidFill>
                          <a:latin typeface="Calibri"/>
                        </a:rPr>
                        <a:t>Discoverability prerequisite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C2E"/>
                          </a:solidFill>
                          <a:latin typeface="Calibri"/>
                        </a:rPr>
                        <a:t>System description — what the system does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B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C2E"/>
                          </a:solidFill>
                          <a:latin typeface="Calibri"/>
                        </a:rPr>
                        <a:t>Basic transparency requirement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C2E"/>
                          </a:solidFill>
                          <a:latin typeface="Calibri"/>
                        </a:rPr>
                        <a:t>Rights and freedoms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B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C2E"/>
                          </a:solidFill>
                          <a:latin typeface="Calibri"/>
                        </a:rPr>
                        <a:t>Charter obligations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C2E"/>
                          </a:solidFill>
                          <a:latin typeface="Calibri"/>
                        </a:rPr>
                        <a:t>Equality and dignity assessment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B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C2E"/>
                          </a:solidFill>
                          <a:latin typeface="Calibri"/>
                        </a:rPr>
                        <a:t>Human rights framework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C2E"/>
                          </a:solidFill>
                          <a:latin typeface="Calibri"/>
                        </a:rPr>
                        <a:t>Expected improvements — claimed public benefits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8B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C2E"/>
                          </a:solidFill>
                          <a:latin typeface="Calibri"/>
                        </a:rPr>
                        <a:t>Justification for automation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594360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EA3AB"/>
                </a:solidFill>
                <a:latin typeface="Calibri"/>
              </a:rPr>
              <a:t>Every top-10 divergent field is an omission. Source: interp_bilingual_divergence, 30 submissions.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Control Group — What Translates Cleanly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Calibri"/>
              </a:rPr>
              <a:t>Abstract ethical principles translate at near-perfect parity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A3AB"/>
                </a:solidFill>
                <a:latin typeface="Calibri"/>
              </a:rPr>
              <a:t>10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2560320" cy="201168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≈ 1.00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77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BF8F2"/>
                </a:solidFill>
                <a:latin typeface="Calibri"/>
              </a:rPr>
              <a:t>fairness / équité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71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C0D0"/>
                </a:solidFill>
                <a:latin typeface="Calibri"/>
              </a:rPr>
              <a:t>EN÷FR ratio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508760"/>
            <a:ext cx="2560320" cy="2011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5544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377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BF8F2"/>
                </a:solidFill>
                <a:latin typeface="Calibri"/>
              </a:rPr>
              <a:t>transparency / transparence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971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C0D0"/>
                </a:solidFill>
                <a:latin typeface="Calibri"/>
              </a:rPr>
              <a:t>EN÷FR ratio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508760"/>
            <a:ext cx="2560320" cy="201168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544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77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BF8F2"/>
                </a:solidFill>
                <a:latin typeface="Calibri"/>
              </a:rPr>
              <a:t>discrimination / discrimination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971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C0D0"/>
                </a:solidFill>
                <a:latin typeface="Calibri"/>
              </a:rPr>
              <a:t>EN÷FR ratio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64040" y="1508760"/>
            <a:ext cx="2560320" cy="2011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15544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1.00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377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BF8F2"/>
                </a:solidFill>
                <a:latin typeface="Calibri"/>
              </a:rPr>
              <a:t>explanation / explication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971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C0D0"/>
                </a:solidFill>
                <a:latin typeface="Calibri"/>
              </a:rPr>
              <a:t>EN÷FR ratio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749039"/>
            <a:ext cx="1136599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1C1C2E"/>
                </a:solidFill>
                <a:latin typeface="Calibri"/>
              </a:rPr>
              <a:t>▸ Parity ≈ 1.0 proves divergence in other terms is not an artifact of French being a different language</a:t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1C1C2E"/>
                </a:solidFill>
                <a:latin typeface="Calibri"/>
              </a:rPr>
              <a:t>▸ Not word-count differences. Not random noise. The divergence in accountability, oversight, audit, review is specific, patterned, structural</a:t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1C1C2E"/>
                </a:solidFill>
                <a:latin typeface="Calibri"/>
              </a:rPr>
              <a:t>▸ These shared concepts come from traditions common to both Common Law and Civil Law — the untranslatable is what doesn't cross that boundary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Untranslatable I — The Accountability Fracture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A3AB"/>
                </a:solidFill>
                <a:latin typeface="Calibri"/>
              </a:rPr>
              <a:t>11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1">
                <a:solidFill>
                  <a:srgbClr val="1A3A5C"/>
                </a:solidFill>
                <a:latin typeface="Calibri"/>
              </a:rPr>
              <a:t>"accountability"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EA3AB"/>
                </a:solidFill>
                <a:latin typeface="Calibri"/>
              </a:rPr>
              <a:t>15× in English AIA 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1A1A"/>
                </a:solidFill>
                <a:latin typeface="Calibri"/>
              </a:rPr>
              <a:t>0× direct equivalent in French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A5C"/>
                </a:solidFill>
                <a:latin typeface="Calibri"/>
              </a:rPr>
              <a:t>→  fractures into: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554480"/>
            <a:ext cx="5833872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62763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« reddition de comptes »  11×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02996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BF8F2"/>
                </a:solidFill>
                <a:latin typeface="Calibri"/>
              </a:rPr>
              <a:t>Administrative reporting
(Federal public administration)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788920"/>
            <a:ext cx="5833872" cy="109728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28620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« imputabilité »  4×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26440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BF8F2"/>
                </a:solidFill>
                <a:latin typeface="Calibri"/>
              </a:rPr>
              <a:t>Technical attribution
(Civil law, causal liability)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4023360"/>
            <a:ext cx="5833872" cy="109728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409651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« responsabilité »  1×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449884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BF8F2"/>
                </a:solidFill>
                <a:latin typeface="Calibri"/>
              </a:rPr>
              <a:t>Legal/moral responsibility
(Both traditions)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212080"/>
            <a:ext cx="113659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C1C2E"/>
                </a:solidFill>
                <a:latin typeface="Calibri"/>
              </a:rPr>
              <a:t>English uses a single superordinate spanning legal, administrative, and technical domains.
French distributes it across terms with different institutional weights — a governance decision, not a translation error.
This is Cassin's untranslatable: a term one does not cease (not) to translate.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Untranslatable II — Oversight &amp; Bias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A3AB"/>
                </a:solidFill>
                <a:latin typeface="Calibri"/>
              </a:rPr>
              <a:t>12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1A1A"/>
                </a:solidFill>
                <a:latin typeface="Calibri"/>
              </a:rPr>
              <a:t>OVERSIGHT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74519"/>
            <a:ext cx="5394960" cy="1554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"monitoring"   5×  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BF8F2"/>
                </a:solidFill>
                <a:latin typeface="Calibri"/>
              </a:rPr>
              <a:t>collocates: regular · quality · assurance · measures → observational, passive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9300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"contrôle"   27×  FR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429000"/>
            <a:ext cx="5394960" cy="155448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97763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BF8F2"/>
                </a:solidFill>
                <a:latin typeface="Calibri"/>
              </a:rPr>
              <a:t>collocates: gouvernement · données · fédéral · points → regulatory control, active 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0474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1A1A"/>
                </a:solidFill>
                <a:latin typeface="Calibri"/>
              </a:rPr>
              <a:t>5.4× ratio — the largest divergence in the corpus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1417320"/>
            <a:ext cx="36576" cy="4663440"/>
          </a:xfrm>
          <a:prstGeom prst="rect">
            <a:avLst/>
          </a:prstGeom>
          <a:solidFill>
            <a:srgbClr val="9EA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4630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1A1A"/>
                </a:solidFill>
                <a:latin typeface="Calibri"/>
              </a:rPr>
              <a:t>BIAS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874519"/>
            <a:ext cx="5760720" cy="7772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9202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"bias"  34×  EN  — one term, two registers collapsed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697480"/>
            <a:ext cx="2743200" cy="137160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2743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biais   22×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2004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BF8F2"/>
                </a:solidFill>
                <a:latin typeface="Calibri"/>
              </a:rPr>
              <a:t>Technical/algorithmic
→ unintended model output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2697480"/>
            <a:ext cx="2834640" cy="13716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préjugé   9×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2004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BF8F2"/>
                </a:solidFill>
                <a:latin typeface="Calibri"/>
              </a:rPr>
              <a:t>Social/moral prejudice
→ collocates with atténuation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206240"/>
            <a:ext cx="5760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C1C2E"/>
                </a:solidFill>
                <a:latin typeface="Calibri"/>
              </a:rPr>
              <a:t>French makes a lexical distinction English collapses — a conceptual refinement, not a translation error.
Francophone authors distinguish more precisely between a data bias in the model and a human prejudice in the process.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Philosophical Drift — Systematic Evidence Across 37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Calibri"/>
              </a:rPr>
              <a:t>Applied Ethics · Normative Ethics · Metaethics  ·  1,130 corpus occurrences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A3AB"/>
                </a:solidFill>
                <a:latin typeface="Calibri"/>
              </a:rPr>
              <a:t>13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4206240" cy="5029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361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EN  INSTRUMENTALIZED  37.8%  (14/37 terms)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103120"/>
            <a:ext cx="2103120" cy="502920"/>
          </a:xfrm>
          <a:prstGeom prst="rect">
            <a:avLst/>
          </a:prstGeom>
          <a:solidFill>
            <a:srgbClr val="9B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305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EN  narrowed  18.9%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697480"/>
            <a:ext cx="1508760" cy="502920"/>
          </a:xfrm>
          <a:prstGeom prst="rect">
            <a:avLst/>
          </a:prstGeom>
          <a:solidFill>
            <a:srgbClr val="7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249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EN  reframed  13.5%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383280"/>
            <a:ext cx="3291840" cy="50292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107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FR  REFRAMED  29.7%  (11/37 terms)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977639"/>
            <a:ext cx="1828800" cy="502920"/>
          </a:xfrm>
          <a:prstGeom prst="rect">
            <a:avLst/>
          </a:prstGeom>
          <a:solidFill>
            <a:srgbClr val="8B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0507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FR  absent  21.6%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572000"/>
            <a:ext cx="1737360" cy="502920"/>
          </a:xfrm>
          <a:prstGeom prst="rect">
            <a:avLst/>
          </a:prstGeom>
          <a:solidFill>
            <a:srgbClr val="5A8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994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FR  instrumentalized  16.2%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508760"/>
            <a:ext cx="4572000" cy="4297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60020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Statistical Evidence</a:t>
            </a:r>
          </a:p>
          <a:p>
            <a:pPr algn="l"/>
            <a:r>
              <a:rPr sz="600" b="0" i="0">
                <a:solidFill>
                  <a:srgbClr val="1C1C2E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BF8F2"/>
                </a:solidFill>
                <a:latin typeface="Calibri"/>
              </a:rPr>
              <a:t>Fisher's exact: EN instrumentalizes &gt; FR</a:t>
            </a:r>
          </a:p>
          <a:p>
            <a:pPr algn="l">
              <a:spcBef>
                <a:spcPts val="400"/>
              </a:spcBef>
            </a:pPr>
            <a:r>
              <a:rPr sz="1500" b="1" i="0">
                <a:solidFill>
                  <a:srgbClr val="C99A06"/>
                </a:solidFill>
                <a:latin typeface="Calibri"/>
              </a:rPr>
              <a:t>  OR = 2.99,  p = .033</a:t>
            </a:r>
          </a:p>
          <a:p>
            <a:pPr algn="l"/>
            <a:r>
              <a:rPr sz="400" b="0" i="0">
                <a:solidFill>
                  <a:srgbClr val="1C1C2E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BF8F2"/>
                </a:solidFill>
                <a:latin typeface="Calibri"/>
              </a:rPr>
              <a:t>FR reframes &gt; EN (trend)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FBF8F2"/>
                </a:solidFill>
                <a:latin typeface="Calibri"/>
              </a:rPr>
              <a:t>  OR = 2.56,  p = .078</a:t>
            </a:r>
          </a:p>
          <a:p>
            <a:pPr algn="l"/>
            <a:r>
              <a:rPr sz="400" b="0" i="0">
                <a:solidFill>
                  <a:srgbClr val="1C1C2E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BF8F2"/>
                </a:solidFill>
                <a:latin typeface="Calibri"/>
              </a:rPr>
              <a:t>Cramér's V = 0.322 (moderate effect)</a:t>
            </a:r>
          </a:p>
          <a:p>
            <a:pPr algn="l"/>
            <a:r>
              <a:rPr sz="400" b="0" i="0">
                <a:solidFill>
                  <a:srgbClr val="1C1C2E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BF8F2"/>
                </a:solidFill>
                <a:latin typeface="Calibri"/>
              </a:rPr>
              <a:t>Total EN (665) vs FR (465)</a:t>
            </a: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C99A06"/>
                </a:solidFill>
                <a:latin typeface="Calibri"/>
              </a:rPr>
              <a:t>  Wilcoxon W = 496,  p = .001</a:t>
            </a:r>
          </a:p>
          <a:p>
            <a:pPr algn="l"/>
            <a:r>
              <a:rPr sz="400" b="0" i="0">
                <a:solidFill>
                  <a:srgbClr val="1C1C2E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BF8F2"/>
                </a:solidFill>
                <a:latin typeface="Calibri"/>
              </a:rPr>
              <a:t>Spearman r = 0.817,  p &lt; .001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Deepest Divergence — Three Conceptual Shifts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Calibri"/>
              </a:rPr>
              <a:t>Terms that encode categorically different conceptual orientations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A3AB"/>
                </a:solidFill>
                <a:latin typeface="Calibri"/>
              </a:rPr>
              <a:t>14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A3A5C"/>
                </a:solidFill>
                <a:latin typeface="Calibri"/>
              </a:rPr>
              <a:t>For these three terms, EN and FR do not differ in degree — they differ in kind.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65960"/>
            <a:ext cx="11365992" cy="144475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65960"/>
            <a:ext cx="64008" cy="14447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2082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A5C"/>
                </a:solidFill>
                <a:latin typeface="Calibri"/>
              </a:rPr>
              <a:t>«  accountability 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02082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1A1A"/>
                </a:solidFill>
                <a:latin typeface="Calibri"/>
              </a:rPr>
              <a:t>EN: narrowed  (individual assignment, Common Law)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42316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B8A"/>
                </a:solidFill>
                <a:latin typeface="Calibri"/>
              </a:rPr>
              <a:t>FR: absent  (distributed: reddition / imputabilité / responsabilité)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43784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C1C2E"/>
                </a:solidFill>
                <a:latin typeface="Calibri"/>
              </a:rPr>
              <a:t>EN constructs accountability as a named personal property. FR has no single equivalent — the concept is juridically untranslatable.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502152"/>
            <a:ext cx="11365992" cy="144475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502152"/>
            <a:ext cx="64008" cy="14447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5701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A5C"/>
                </a:solidFill>
                <a:latin typeface="Calibri"/>
              </a:rPr>
              <a:t>«  oversight 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55701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1A1A"/>
                </a:solidFill>
                <a:latin typeface="Calibri"/>
              </a:rPr>
              <a:t>EN: instrumentalized  (monitoring = passive quality assurance)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959352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B8A"/>
                </a:solidFill>
                <a:latin typeface="Calibri"/>
              </a:rPr>
              <a:t>FR: reframed  (contrôle = active regulatory authority)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379976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C1C2E"/>
                </a:solidFill>
                <a:latin typeface="Calibri"/>
              </a:rPr>
              <a:t>Same AIA question. Two different theories of the state's role in algorithmic governance.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038344"/>
            <a:ext cx="11365992" cy="144475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5038344"/>
            <a:ext cx="64008" cy="14447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0932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A5C"/>
                </a:solidFill>
                <a:latin typeface="Calibri"/>
              </a:rPr>
              <a:t>«  justice  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509320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1A1A"/>
                </a:solidFill>
                <a:latin typeface="Calibri"/>
              </a:rPr>
              <a:t>EN: narrowed  (procedural fairness only)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5495544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B8A"/>
                </a:solidFill>
                <a:latin typeface="Calibri"/>
              </a:rPr>
              <a:t>FR: expanded  (social justice, distributive obligation — Civil Law tradition)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916168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C1C2E"/>
                </a:solidFill>
                <a:latin typeface="Calibri"/>
              </a:rPr>
              <a:t>The only term where French is philosophically richer than English.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Counterintuitive Finding — Where French Is More Faithful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A3AB"/>
                </a:solidFill>
                <a:latin typeface="Calibri"/>
              </a:rPr>
              <a:t>15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  <a:latin typeface="Calibri"/>
              </a:rPr>
              <a:t>Two terms where French preserves the philosophical register that English abandons: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20240"/>
            <a:ext cx="5669280" cy="3520440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« recourse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BF8F2"/>
                </a:solidFill>
                <a:latin typeface="Calibri"/>
              </a:rPr>
              <a:t>EN: instrumentalized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63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9A06"/>
                </a:solidFill>
                <a:latin typeface="Calibri"/>
              </a:rPr>
              <a:t>FR: ✅ faithful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93008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BF8F2"/>
                </a:solidFill>
                <a:latin typeface="Calibri"/>
              </a:rPr>
              <a:t>English reduces recourse to procedural mechanism — appeals forms, complaint channels.
French preserves recourse as a citizen's normative right to remedy.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920240"/>
            <a:ext cx="5669280" cy="3520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« non-maleficence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51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BF8F2"/>
                </a:solidFill>
                <a:latin typeface="Calibri"/>
              </a:rPr>
              <a:t>EN: 👻 unnamed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063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9A06"/>
                </a:solidFill>
                <a:latin typeface="Calibri"/>
              </a:rPr>
              <a:t>FR: ✅ faithful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493008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BF8F2"/>
                </a:solidFill>
                <a:latin typeface="Calibri"/>
              </a:rPr>
              <a:t>English suppresses the philosophical label — harm prevention is present but unnamed.
French frames ne pas nuire as an ethical principle, not just a risk-management task.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5577840"/>
            <a:ext cx="11365992" cy="84124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623560"/>
            <a:ext cx="110002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Both terms concern citizen remedy and harm prevention — the dimensions most directly relevant to Francophone Canadians' rights. Their preservation in French, against the general pattern, is the corpus's most counterintuitive finding.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Automation Rhetoric — The Universal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Calibri"/>
              </a:rPr>
              <a:t>Across all 30 systems, in all 6 sectors: automation is invariably framed as 'assistance'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A3AB"/>
                </a:solidFill>
                <a:latin typeface="Calibri"/>
              </a:rPr>
              <a:t>16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46304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BF8F2"/>
                </a:solidFill>
                <a:latin typeface="Calibri"/>
              </a:rPr>
              <a:t>"The system  helps sort and assign  applications...  all decisions are  made by an officer."  |  "a tool  for the purpose of assisting..."  decisions may be rendered  without direct human involvement.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606040"/>
            <a:ext cx="1136599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500" b="1" i="0">
                <a:solidFill>
                  <a:srgbClr val="1A3A5C"/>
                </a:solidFill>
                <a:latin typeface="Calibri"/>
              </a:rPr>
              <a:t>Four rhetorical strategies operating across the corpus:</a:t>
            </a:r>
          </a:p>
          <a:p>
            <a:pPr algn="l"/>
            <a:r>
              <a:rPr sz="500" b="0" i="0">
                <a:solidFill>
                  <a:srgbClr val="1C1C2E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C1C2E"/>
                </a:solidFill>
                <a:latin typeface="Calibri"/>
              </a:rPr>
              <a:t>▸ Logistical sanitization — automation as operational necessity ('managing growing volumes'), preventing scrutiny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C1C2E"/>
                </a:solidFill>
                <a:latin typeface="Calibri"/>
              </a:rPr>
              <a:t>▸ Clerical reductionism — consequential decisions described as 'administrative groupings' or 'sorting mechanisms'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C1C2E"/>
                </a:solidFill>
                <a:latin typeface="Calibri"/>
              </a:rPr>
              <a:t>▸ Technological diminishment — algorithm's power minimized ('assists,' 'supports,' 'recommends')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C1C2E"/>
                </a:solidFill>
                <a:latin typeface="Calibri"/>
              </a:rPr>
              <a:t>▸ Procedural insulation — safeguard claims answered with bare 'Yes' without elaboration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4892040"/>
            <a:ext cx="11365992" cy="155448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937760"/>
            <a:ext cx="1100023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Passport Facial Recognition System — same document, same paragraph:
"decisions may be rendered without direct human involvement"  &amp;  "the human-in-the-loop remains the definitive source of judgment and accountability"
The AIA does not resolve this contradiction — it contains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Performative Compliance 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Calibri"/>
              </a:rPr>
              <a:t>From universal claim to near-total non-disclosure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A3AB"/>
                </a:solidFill>
                <a:latin typeface="Calibri"/>
              </a:rPr>
              <a:t>17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" y="1508760"/>
            <a:ext cx="11338560" cy="621792"/>
          </a:xfrm>
          <a:prstGeom prst="rect">
            <a:avLst/>
          </a:prstGeom>
          <a:solidFill>
            <a:srgbClr val="1A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" y="1581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100%  —  Human override enabled (claimed)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2476" y="2240280"/>
            <a:ext cx="9144000" cy="621792"/>
          </a:xfrm>
          <a:prstGeom prst="rect">
            <a:avLst/>
          </a:prstGeom>
          <a:solidFill>
            <a:srgbClr val="2A7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5356" y="2313432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67%  —  GBA+ conducted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65476" y="2971800"/>
            <a:ext cx="6858000" cy="621792"/>
          </a:xfrm>
          <a:prstGeom prst="rect">
            <a:avLst/>
          </a:prstGeom>
          <a:solidFill>
            <a:srgbClr val="C07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8356" y="3044952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60%  —  Bias testing documented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22876" y="3703320"/>
            <a:ext cx="2743200" cy="62179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05756" y="377647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3%  —  Bias testing results public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572000"/>
            <a:ext cx="113659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A3A5C"/>
                </a:solidFill>
                <a:latin typeface="Calibri"/>
              </a:rPr>
              <a:t>The form is completed. The box is checked. The record shows compliance.
The downstream requirements that would make compliance meaningful are not fulfilled.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5394960"/>
            <a:ext cx="1136599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440680"/>
            <a:ext cx="110002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The AIA asks 'have you done X?' rather than 'show how you did X.'
The instrument elicits claims of compliance rather than evidence of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Translation as Governance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65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Calibri"/>
              </a:rPr>
              <a:t>Baker's non-equivalence thesis — structural, not merely lexical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A3AB"/>
                </a:solidFill>
                <a:latin typeface="Calibri"/>
              </a:rPr>
              <a:t>18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500" b="1" i="0">
                <a:solidFill>
                  <a:srgbClr val="1A3A5C"/>
                </a:solidFill>
                <a:latin typeface="Calibri"/>
              </a:rPr>
              <a:t>The Clean / Untranslatable Pattern</a:t>
            </a:r>
          </a:p>
          <a:p>
            <a:pPr algn="l"/>
            <a:r>
              <a:rPr sz="500" b="0" i="0">
                <a:solidFill>
                  <a:srgbClr val="1C1C2E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C1C2E"/>
                </a:solidFill>
                <a:latin typeface="Calibri"/>
              </a:rPr>
              <a:t>▸ Abstract principles (fairness, transparency, discrimination) — shared across legal traditions — translate at ratio ≈1.0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C1C2E"/>
                </a:solidFill>
                <a:latin typeface="Calibri"/>
              </a:rPr>
              <a:t>▸ Institutional practice terms (accountability, oversight, audit) — encoding Common Law assumptions — diverge dramatically</a:t>
            </a: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8B1A1A"/>
                </a:solidFill>
                <a:latin typeface="Calibri"/>
              </a:rPr>
              <a:t>▸ Bilingual failure is not a function of linguistic difference — it is a function of institutional culture</a:t>
            </a:r>
          </a:p>
          <a:p>
            <a:pPr algn="l"/>
            <a:r>
              <a:rPr sz="500" b="0" i="0">
                <a:solidFill>
                  <a:srgbClr val="1C1C2E"/>
                </a:solidFill>
                <a:latin typeface="Calibri"/>
              </a:rPr>
              <a:t/>
            </a:r>
          </a:p>
          <a:p>
            <a:pPr algn="l"/>
            <a:r>
              <a:rPr sz="1500" b="1" i="0">
                <a:solidFill>
                  <a:srgbClr val="1A3A5C"/>
                </a:solidFill>
                <a:latin typeface="Calibri"/>
              </a:rPr>
              <a:t>The Francophone Accountability Deficit</a:t>
            </a:r>
          </a:p>
          <a:p>
            <a:pPr algn="l"/>
            <a:r>
              <a:rPr sz="500" b="0" i="0">
                <a:solidFill>
                  <a:srgbClr val="1C1C2E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C1C2E"/>
                </a:solidFill>
                <a:latin typeface="Calibri"/>
              </a:rPr>
              <a:t>▸ 43% of submissions: structurally monolingual — French treated as non-essential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C1C2E"/>
                </a:solidFill>
                <a:latin typeface="Calibri"/>
              </a:rPr>
              <a:t>▸ 57% genuinely bilingual — no gradation, an institutional cliff</a:t>
            </a:r>
          </a:p>
          <a:p>
            <a:pPr algn="l">
              <a:spcBef>
                <a:spcPts val="400"/>
              </a:spcBef>
            </a:pPr>
            <a:r>
              <a:rPr sz="1400" b="0" i="1">
                <a:solidFill>
                  <a:srgbClr val="1C1C2E"/>
                </a:solidFill>
                <a:latin typeface="Calibri"/>
              </a:rPr>
              <a:t>▸ Venuti's domestication: dominant language asserts itself through absence of translation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1417320"/>
            <a:ext cx="36576" cy="4846320"/>
          </a:xfrm>
          <a:prstGeom prst="rect">
            <a:avLst/>
          </a:prstGeom>
          <a:solidFill>
            <a:srgbClr val="9EA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463040"/>
            <a:ext cx="5760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500" b="1" i="0">
                <a:solidFill>
                  <a:srgbClr val="1A3A5C"/>
                </a:solidFill>
                <a:latin typeface="Calibri"/>
              </a:rPr>
              <a:t>Cassin's Untranslatable — Measured</a:t>
            </a:r>
          </a:p>
          <a:p>
            <a:pPr algn="l"/>
            <a:r>
              <a:rPr sz="500" b="0" i="0">
                <a:solidFill>
                  <a:srgbClr val="1C1C2E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C1C2E"/>
                </a:solidFill>
                <a:latin typeface="Calibri"/>
              </a:rPr>
              <a:t>▸ "Accountability" is not untranslatable because it cannot be rendered in French</a:t>
            </a: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1C1C2E"/>
                </a:solidFill>
                <a:latin typeface="Calibri"/>
              </a:rPr>
              <a:t>▸ It is untranslatable because no single French term covers the same conceptual territory — and the translation choice is itself a governance act</a:t>
            </a:r>
          </a:p>
          <a:p>
            <a:pPr algn="l"/>
            <a:r>
              <a:rPr sz="800" b="0" i="0">
                <a:solidFill>
                  <a:srgbClr val="1C1C2E"/>
                </a:solidFill>
                <a:latin typeface="Calibri"/>
              </a:rPr>
              <a:t/>
            </a:r>
          </a:p>
          <a:p>
            <a:pPr algn="l"/>
            <a:r>
              <a:rPr sz="1400" b="0" i="1">
                <a:solidFill>
                  <a:srgbClr val="1A6B8A"/>
                </a:solidFill>
                <a:latin typeface="Calibri"/>
              </a:rPr>
              <a:t>"The English AIA can ask 'have you assigned accountability?' as a unified governance question. The French AIA cannot — it must choose which kind of accountability it is asking about."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Implications — Policy &amp; Digital Humanities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311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A3AB"/>
                </a:solidFill>
                <a:latin typeface="Calibri"/>
              </a:rPr>
              <a:t>19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Calibri"/>
              </a:rPr>
              <a:t>Policy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74519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C1C2E"/>
                </a:solidFill>
                <a:latin typeface="Calibri"/>
              </a:rPr>
              <a:t>▸ ① Bilingual field completion as a condition of AIA publication — the pipeline should reject submissions with NULL French narrative fields in rights, description, evaluation criteria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C1C2E"/>
                </a:solidFill>
                <a:latin typeface="Calibri"/>
              </a:rPr>
              <a:t>▸ ② Fix the Impact Level mechanism — all 30 interpreted submissions have NULL impact_level, so the escalating scrutiny requirements were never triggered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C1C2E"/>
                </a:solidFill>
                <a:latin typeface="Calibri"/>
              </a:rPr>
              <a:t>▸ ③ Mandatory publication of GBA+ and bias testing results — not just their completion</a:t>
            </a:r>
          </a:p>
          <a:p>
            <a:pPr algn="l"/>
            <a:r>
              <a:rPr sz="600" b="0" i="0">
                <a:solidFill>
                  <a:srgbClr val="1C1C2E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0" i="1">
                <a:solidFill>
                  <a:srgbClr val="8B1A1A"/>
                </a:solidFill>
                <a:latin typeface="Calibri"/>
              </a:rPr>
              <a:t>▸ Submission 112 proves bilingual AIA governance is achievable — it is an institutional choice, not a linguistic impossibility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1417320"/>
            <a:ext cx="36576" cy="4846320"/>
          </a:xfrm>
          <a:prstGeom prst="rect">
            <a:avLst/>
          </a:prstGeom>
          <a:solidFill>
            <a:srgbClr val="9EA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4630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Calibri"/>
              </a:rPr>
              <a:t>DH 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874519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C1C2E"/>
                </a:solidFill>
                <a:latin typeface="Calibri"/>
              </a:rPr>
              <a:t>▸ LLM-assisted semantic auditing as a DH method — structured comparative analysis of bilingual text pairs at corpus scale, where qualitative reading cannot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C1C2E"/>
                </a:solidFill>
                <a:latin typeface="Calibri"/>
              </a:rPr>
              <a:t>▸ Relational corpus design as reproducibility infrastructure — every finding is a SQL query, every LLM output is structured JSON, every claim is independently verifiable</a:t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1C1C2E"/>
                </a:solidFill>
                <a:latin typeface="Calibri"/>
              </a:rPr>
              <a:t>▸ AI governance as a DH problem — not background context but the central site where computational text analysis, corpus linguistics, and the cultural analysis of institutional documents meet questions of power and justice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88952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53712"/>
            <a:ext cx="12188952" cy="2304288"/>
          </a:xfrm>
          <a:prstGeom prst="rect">
            <a:avLst/>
          </a:prstGeom>
          <a:solidFill>
            <a:srgbClr val="12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74320"/>
            <a:ext cx="113659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A8CC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68680"/>
            <a:ext cx="1136599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FFFFF"/>
                </a:solidFill>
                <a:latin typeface="Calibri"/>
              </a:rPr>
              <a:t>Canada's bilingual AIA corpus reveals a state that is not untranslatable —
submission 112 proves bilingual algorithmic governance is achievable —
but a state that does not translate, systematically, the governance content that matters most.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377440"/>
            <a:ext cx="11365992" cy="36576"/>
          </a:xfrm>
          <a:prstGeom prst="rect">
            <a:avLst/>
          </a:prstGeom>
          <a:solidFill>
            <a:srgbClr val="7AA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2514600"/>
            <a:ext cx="64008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32888"/>
            <a:ext cx="11183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BF8F2"/>
                </a:solidFill>
                <a:latin typeface="Calibri"/>
              </a:rPr>
              <a:t>The untranslatable state is primarily the untranslated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136392"/>
            <a:ext cx="64008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11183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BF8F2"/>
                </a:solidFill>
                <a:latin typeface="Calibri"/>
              </a:rPr>
              <a:t>English instrumentalizes; French reframes — but both do so within a framework of assumed values rather than reasoned ones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758184"/>
            <a:ext cx="64008" cy="4754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776472"/>
            <a:ext cx="11183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BF8F2"/>
                </a:solidFill>
                <a:latin typeface="Calibri"/>
              </a:rPr>
              <a:t>Quantifying the francophone accountability deficit is not a neutral operation — it is a precondition for accountability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617720"/>
            <a:ext cx="11365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Calibri"/>
              </a:rPr>
              <a:t>"When algorithms make decisions about refugee applications, disability benefits, and mental health eligibility,
the analysis of that text is not peripheral to questions of power and justice — it is central to them."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715000"/>
            <a:ext cx="11365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A8CC"/>
                </a:solidFill>
                <a:latin typeface="Calibri"/>
              </a:rPr>
              <a:t>Data &amp; code: github.com/Sagaustus/A-Bilingual-Corpus-Study-of-Canadian-AIA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5379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EA3AB"/>
                </a:solidFill>
                <a:latin typeface="Calibr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